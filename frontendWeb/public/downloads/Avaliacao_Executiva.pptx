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5" r:id="rId5"/>
    <p:sldId id="266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79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6807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351260"/>
            <a:ext cx="10566400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2158901"/>
            <a:ext cx="10566400" cy="3886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351260"/>
            <a:ext cx="10566400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2158901"/>
            <a:ext cx="10566400" cy="3886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6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1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13.png"/><Relationship Id="rId10" Type="http://schemas.openxmlformats.org/officeDocument/2006/relationships/image" Target="../media/image6.png"/><Relationship Id="rId4" Type="http://schemas.openxmlformats.org/officeDocument/2006/relationships/image" Target="../media/image18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 err="1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</a:t>
            </a:r>
            <a:r>
              <a:rPr lang="en-US" sz="16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SEMEAR ·  Leandro Crisci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35126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Recode PRO AI: 295 horas de formação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2108101"/>
            <a:ext cx="10883392" cy="3339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30"/>
              </a:lnSpc>
              <a:buNone/>
            </a:pPr>
            <a:r>
              <a:rPr lang="en-US" sz="1800" dirty="0">
                <a:solidFill>
                  <a:srgbClr val="B8C2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Programa Transforma Futuros. Realização Recode, parceiro Instituto BAT.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2673846"/>
            <a:ext cx="3414117" cy="1667966"/>
          </a:xfrm>
          <a:prstGeom prst="roundRect">
            <a:avLst>
              <a:gd name="adj" fmla="val 590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22350" y="2880221"/>
            <a:ext cx="309140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Módulo 1 · 90 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22350" y="3261221"/>
            <a:ext cx="3091408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Lógica de programação, HTML, CSS, JavaScript, Python e Git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88842" y="2673846"/>
            <a:ext cx="3414216" cy="1667966"/>
          </a:xfrm>
          <a:prstGeom prst="roundRect">
            <a:avLst>
              <a:gd name="adj" fmla="val 590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595217" y="2880221"/>
            <a:ext cx="309151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Módulo 2 · 90 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95217" y="3261221"/>
            <a:ext cx="3091510" cy="8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Bancos SQL e NoSQL, Linux, nuvem, Docker, IA e Machine Learning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61809" y="2673846"/>
            <a:ext cx="3414216" cy="1667966"/>
          </a:xfrm>
          <a:prstGeom prst="roundRect">
            <a:avLst>
              <a:gd name="adj" fmla="val 590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168184" y="2880221"/>
            <a:ext cx="309151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Módulo 3 · 115 h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68184" y="3261221"/>
            <a:ext cx="3091510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Java, Spring, React JS, Angular JS e integração com API REST</a:t>
            </a:r>
            <a:endParaRPr lang="en-US" sz="1700" dirty="0"/>
          </a:p>
        </p:txBody>
      </p:sp>
      <p:pic>
        <p:nvPicPr>
          <p:cNvPr id="14" name="Logotipo" descr="Logotipo Avaliação Escol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576" y="457200"/>
            <a:ext cx="2194560" cy="820396"/>
          </a:xfrm>
          <a:prstGeom prst="rect">
            <a:avLst/>
          </a:prstGeom>
        </p:spPr>
      </p:pic>
      <p:pic>
        <p:nvPicPr>
          <p:cNvPr id="15" name="Ilustração da escola" descr="Ilustração: ônibus escolar e alunos a caminho da escola, rota no mapa e nota de avaliação em estrel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93828"/>
            <a:ext cx="12191695" cy="2264171"/>
          </a:xfrm>
          <a:prstGeom prst="rect">
            <a:avLst/>
          </a:prstGeom>
        </p:spPr>
      </p:pic>
      <p:pic>
        <p:nvPicPr>
          <p:cNvPr id="16" name="Ícone do cartão" descr="Ícone de códi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3164" y="2811005"/>
            <a:ext cx="420624" cy="420624"/>
          </a:xfrm>
          <a:prstGeom prst="rect">
            <a:avLst/>
          </a:prstGeom>
        </p:spPr>
      </p:pic>
      <p:pic>
        <p:nvPicPr>
          <p:cNvPr id="17" name="Ícone do cartão" descr="Ícone de banco de dado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6130" y="2811005"/>
            <a:ext cx="420624" cy="420624"/>
          </a:xfrm>
          <a:prstGeom prst="rect">
            <a:avLst/>
          </a:prstGeom>
        </p:spPr>
      </p:pic>
      <p:pic>
        <p:nvPicPr>
          <p:cNvPr id="18" name="Ícone do cartão" descr="Ícone de camada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09096" y="2811005"/>
            <a:ext cx="42062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ONU · Agenda 2030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35126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ODS 4: Educação de qualidade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2108101"/>
            <a:ext cx="10883392" cy="1002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5"/>
              </a:lnSpc>
              <a:buNone/>
            </a:pPr>
            <a:r>
              <a:rPr lang="en-US" sz="19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 dos 17 Objetivos de Desenvolvimento Sustentável. A meta é assegurar educação inclusiva, equitativa e de qualidade e promover oportunidades de aprendizagem ao longo da vida para todos.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12800" y="3339306"/>
            <a:ext cx="10883392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Como o sistema apoia o ODS 4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15975" y="3870722"/>
            <a:ext cx="3414117" cy="1376561"/>
          </a:xfrm>
          <a:prstGeom prst="roundRect">
            <a:avLst>
              <a:gd name="adj" fmla="val 715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22350" y="4077097"/>
            <a:ext cx="309140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Acesso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22350" y="4458097"/>
            <a:ext cx="3091408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Distância, transporte e zona rural dos alunos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388842" y="3870722"/>
            <a:ext cx="3414216" cy="1376561"/>
          </a:xfrm>
          <a:prstGeom prst="roundRect">
            <a:avLst>
              <a:gd name="adj" fmla="val 715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95217" y="4077097"/>
            <a:ext cx="309151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Equidade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95217" y="4458097"/>
            <a:ext cx="3091510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Comparação entre escolas, regiões e tipos de escola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61809" y="3870722"/>
            <a:ext cx="3414216" cy="1376561"/>
          </a:xfrm>
          <a:prstGeom prst="roundRect">
            <a:avLst>
              <a:gd name="adj" fmla="val 715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168184" y="4077097"/>
            <a:ext cx="309151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Qualidade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168184" y="4458097"/>
            <a:ext cx="3091510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Notas de 1 a 5 para escolas e de 0 a 10 para cursos</a:t>
            </a:r>
            <a:endParaRPr lang="en-US" sz="1700" dirty="0"/>
          </a:p>
        </p:txBody>
      </p:sp>
      <p:pic>
        <p:nvPicPr>
          <p:cNvPr id="15" name="Logotipo" descr="Logotipo Avaliação Escolas: pin de mapa com capelo e estrel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66928"/>
            <a:ext cx="566928" cy="566928"/>
          </a:xfrm>
          <a:prstGeom prst="rect">
            <a:avLst/>
          </a:prstGeom>
        </p:spPr>
      </p:pic>
      <p:pic>
        <p:nvPicPr>
          <p:cNvPr id="16" name="Ícone do cartão" descr="Ícone de ônibus: acess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3164" y="4007882"/>
            <a:ext cx="420624" cy="420624"/>
          </a:xfrm>
          <a:prstGeom prst="rect">
            <a:avLst/>
          </a:prstGeom>
        </p:spPr>
      </p:pic>
      <p:pic>
        <p:nvPicPr>
          <p:cNvPr id="17" name="Ícone do cartão" descr="Ícone de balança: equidad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6130" y="4007882"/>
            <a:ext cx="420624" cy="420624"/>
          </a:xfrm>
          <a:prstGeom prst="rect">
            <a:avLst/>
          </a:prstGeom>
        </p:spPr>
      </p:pic>
      <p:pic>
        <p:nvPicPr>
          <p:cNvPr id="18" name="Ícone do cartão" descr="Ícone de estrela: qualidad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9096" y="4007882"/>
            <a:ext cx="420624" cy="420624"/>
          </a:xfrm>
          <a:prstGeom prst="rect">
            <a:avLst/>
          </a:prstGeom>
        </p:spPr>
      </p:pic>
      <p:pic>
        <p:nvPicPr>
          <p:cNvPr id="19" name="Ilustração da sala de aula" descr="Ilustração de sala de aula: lousa com ODS 4, livros, globo e planta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421121"/>
            <a:ext cx="12191695" cy="143687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curso ao sistema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35126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Como a Recode me preparou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2108101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46200" y="2108101"/>
            <a:ext cx="2856190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8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Lógica de programação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12800" y="2616101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46200" y="2616101"/>
            <a:ext cx="2171224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8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e VS Code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12800" y="3124101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46200" y="3124101"/>
            <a:ext cx="2870478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8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Banco de dados MySQL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12800" y="3632101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46200" y="3632101"/>
            <a:ext cx="2518767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8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Orientação a objetos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12800" y="4140101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346200" y="4140101"/>
            <a:ext cx="3722965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8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Java, CRUD e Spring no Eclipse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248400" y="2108101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781800" y="2108101"/>
            <a:ext cx="3349347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8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Endpoints da API no Eclipse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48400" y="2616101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781800" y="2616101"/>
            <a:ext cx="215193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8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no VS Code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48400" y="3124101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1800" y="3124101"/>
            <a:ext cx="4167188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8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 no VS Code, GitHub e Copilot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248400" y="3632101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781800" y="3632101"/>
            <a:ext cx="4248031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8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no Render com PostgreSQL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48400" y="4140101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781800" y="4140101"/>
            <a:ext cx="4956215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8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automático do GitHub no Render</a:t>
            </a:r>
            <a:endParaRPr lang="en-US" sz="1800" dirty="0"/>
          </a:p>
        </p:txBody>
      </p:sp>
      <p:pic>
        <p:nvPicPr>
          <p:cNvPr id="24" name="Logotipo" descr="Logotipo Avaliação Escolas: pin de mapa com capelo e estrel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66928"/>
            <a:ext cx="566928" cy="566928"/>
          </a:xfrm>
          <a:prstGeom prst="rect">
            <a:avLst/>
          </a:prstGeom>
        </p:spPr>
      </p:pic>
      <p:sp>
        <p:nvSpPr>
          <p:cNvPr id="25" name="Faixa Eclipse"/>
          <p:cNvSpPr/>
          <p:nvPr/>
        </p:nvSpPr>
        <p:spPr>
          <a:xfrm>
            <a:off x="812901" y="4983480"/>
            <a:ext cx="5120640" cy="1051560"/>
          </a:xfrm>
          <a:prstGeom prst="roundRect">
            <a:avLst>
              <a:gd name="adj" fmla="val 9070"/>
            </a:avLst>
          </a:prstGeom>
          <a:solidFill>
            <a:srgbClr val="1C232C"/>
          </a:solidFill>
          <a:ln w="6350">
            <a:solidFill>
              <a:srgbClr val="2C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Ícone Eclipse" descr="Ícone do Eclips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781" y="5239512"/>
            <a:ext cx="548640" cy="548640"/>
          </a:xfrm>
          <a:prstGeom prst="rect">
            <a:avLst/>
          </a:prstGeom>
        </p:spPr>
      </p:pic>
      <p:sp>
        <p:nvSpPr>
          <p:cNvPr id="27" name="Texto Eclipse"/>
          <p:cNvSpPr txBox="1"/>
          <p:nvPr/>
        </p:nvSpPr>
        <p:spPr>
          <a:xfrm>
            <a:off x="1727301" y="5093208"/>
            <a:ext cx="40690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800" b="1">
                <a:solidFill>
                  <a:srgbClr val="FFC857"/>
                </a:solidFill>
                <a:latin typeface="Segoe UI"/>
              </a:rPr>
              <a:t>Eclipse</a:t>
            </a:r>
          </a:p>
          <a:p>
            <a:pPr>
              <a:lnSpc>
                <a:spcPct val="108000"/>
              </a:lnSpc>
            </a:pPr>
            <a:r>
              <a:rPr sz="1500" b="0">
                <a:solidFill>
                  <a:srgbClr val="EDEFF2"/>
                </a:solidFill>
                <a:latin typeface="Segoe UI"/>
              </a:rPr>
              <a:t>Java, CRUD, Spring e endpoints da API</a:t>
            </a:r>
          </a:p>
        </p:txBody>
      </p:sp>
      <p:sp>
        <p:nvSpPr>
          <p:cNvPr id="28" name="Seta Eclipse VS Code"/>
          <p:cNvSpPr txBox="1"/>
          <p:nvPr/>
        </p:nvSpPr>
        <p:spPr>
          <a:xfrm>
            <a:off x="6053328" y="5184648"/>
            <a:ext cx="411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3200" b="1">
                <a:solidFill>
                  <a:srgbClr val="FFC857"/>
                </a:solidFill>
                <a:latin typeface="Segoe UI"/>
              </a:rPr>
              <a:t>→</a:t>
            </a:r>
          </a:p>
        </p:txBody>
      </p:sp>
      <p:sp>
        <p:nvSpPr>
          <p:cNvPr id="29" name="Faixa VS Code"/>
          <p:cNvSpPr/>
          <p:nvPr/>
        </p:nvSpPr>
        <p:spPr>
          <a:xfrm>
            <a:off x="6537960" y="4983480"/>
            <a:ext cx="4840833" cy="1051560"/>
          </a:xfrm>
          <a:prstGeom prst="roundRect">
            <a:avLst>
              <a:gd name="adj" fmla="val 9070"/>
            </a:avLst>
          </a:prstGeom>
          <a:solidFill>
            <a:srgbClr val="1C232C"/>
          </a:solidFill>
          <a:ln w="6350">
            <a:solidFill>
              <a:srgbClr val="2C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Ícone VS Code" descr="Ícone do VS Cod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5239512"/>
            <a:ext cx="548640" cy="548640"/>
          </a:xfrm>
          <a:prstGeom prst="rect">
            <a:avLst/>
          </a:prstGeom>
        </p:spPr>
      </p:pic>
      <p:sp>
        <p:nvSpPr>
          <p:cNvPr id="31" name="Texto VS Code"/>
          <p:cNvSpPr txBox="1"/>
          <p:nvPr/>
        </p:nvSpPr>
        <p:spPr>
          <a:xfrm>
            <a:off x="7452360" y="5093208"/>
            <a:ext cx="3789273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800" b="1">
                <a:solidFill>
                  <a:srgbClr val="FFC857"/>
                </a:solidFill>
                <a:latin typeface="Segoe UI"/>
              </a:rPr>
              <a:t>VS Code</a:t>
            </a:r>
          </a:p>
          <a:p>
            <a:pPr>
              <a:lnSpc>
                <a:spcPct val="108000"/>
              </a:lnSpc>
            </a:pPr>
            <a:r>
              <a:rPr sz="1500" b="0">
                <a:solidFill>
                  <a:srgbClr val="EDEFF2"/>
                </a:solidFill>
                <a:latin typeface="Segoe UI"/>
              </a:rPr>
              <a:t>Python, React, Java, GitHub e Copilot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Ambiente de desenvolvimento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35126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Eclipse ao VS Code</a:t>
            </a:r>
            <a:endParaRPr lang="en-US" sz="3600" dirty="0"/>
          </a:p>
        </p:txBody>
      </p:sp>
      <p:sp>
        <p:nvSpPr>
          <p:cNvPr id="4" name="Faixa: motivos da migração"/>
          <p:cNvSpPr/>
          <p:nvPr/>
        </p:nvSpPr>
        <p:spPr>
          <a:xfrm>
            <a:off x="812901" y="2112264"/>
            <a:ext cx="10565892" cy="1097280"/>
          </a:xfrm>
          <a:prstGeom prst="roundRect">
            <a:avLst>
              <a:gd name="adj" fmla="val 9070"/>
            </a:avLst>
          </a:prstGeom>
          <a:solidFill>
            <a:srgbClr val="1C232C"/>
          </a:solidFill>
          <a:ln w="6350">
            <a:solidFill>
              <a:srgbClr val="2C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Ícone motivo 1" descr="Ícone do VS Co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069" y="2386584"/>
            <a:ext cx="548640" cy="548640"/>
          </a:xfrm>
          <a:prstGeom prst="rect">
            <a:avLst/>
          </a:prstGeom>
        </p:spPr>
      </p:pic>
      <p:sp>
        <p:nvSpPr>
          <p:cNvPr id="6" name="Motivo 1"/>
          <p:cNvSpPr txBox="1"/>
          <p:nvPr/>
        </p:nvSpPr>
        <p:spPr>
          <a:xfrm>
            <a:off x="1763877" y="2221992"/>
            <a:ext cx="2424683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800" b="1">
                <a:solidFill>
                  <a:srgbClr val="FFC857"/>
                </a:solidFill>
                <a:latin typeface="Segoe UI"/>
              </a:rPr>
              <a:t>Um ambiente só</a:t>
            </a:r>
          </a:p>
          <a:p>
            <a:pPr>
              <a:lnSpc>
                <a:spcPct val="108000"/>
              </a:lnSpc>
            </a:pPr>
            <a:r>
              <a:rPr sz="1500" b="0">
                <a:solidFill>
                  <a:srgbClr val="EDEFF2"/>
                </a:solidFill>
                <a:latin typeface="Segoe UI"/>
              </a:rPr>
              <a:t>React e Spring Boot na mesma janela</a:t>
            </a:r>
          </a:p>
        </p:txBody>
      </p:sp>
      <p:pic>
        <p:nvPicPr>
          <p:cNvPr id="7" name="Ícone motivo 2" descr="Ícone de fogue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033" y="2386584"/>
            <a:ext cx="548640" cy="548640"/>
          </a:xfrm>
          <a:prstGeom prst="rect">
            <a:avLst/>
          </a:prstGeom>
        </p:spPr>
      </p:pic>
      <p:sp>
        <p:nvSpPr>
          <p:cNvPr id="8" name="Motivo 2"/>
          <p:cNvSpPr txBox="1"/>
          <p:nvPr/>
        </p:nvSpPr>
        <p:spPr>
          <a:xfrm>
            <a:off x="5285841" y="2221992"/>
            <a:ext cx="2424683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800" b="1">
                <a:solidFill>
                  <a:srgbClr val="FFC857"/>
                </a:solidFill>
                <a:latin typeface="Segoe UI"/>
              </a:rPr>
              <a:t>Mais leve</a:t>
            </a:r>
          </a:p>
          <a:p>
            <a:pPr>
              <a:lnSpc>
                <a:spcPct val="108000"/>
              </a:lnSpc>
            </a:pPr>
            <a:r>
              <a:rPr sz="1500" b="0">
                <a:solidFill>
                  <a:srgbClr val="EDEFF2"/>
                </a:solidFill>
                <a:latin typeface="Segoe UI"/>
              </a:rPr>
              <a:t>Sobra memória para tudo rodar junto</a:t>
            </a:r>
          </a:p>
        </p:txBody>
      </p:sp>
      <p:pic>
        <p:nvPicPr>
          <p:cNvPr id="9" name="Ícone motivo 3" descr="Ícone do GitHu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7997" y="2386584"/>
            <a:ext cx="548640" cy="548640"/>
          </a:xfrm>
          <a:prstGeom prst="rect">
            <a:avLst/>
          </a:prstGeom>
        </p:spPr>
      </p:pic>
      <p:sp>
        <p:nvSpPr>
          <p:cNvPr id="10" name="Motivo 3"/>
          <p:cNvSpPr txBox="1"/>
          <p:nvPr/>
        </p:nvSpPr>
        <p:spPr>
          <a:xfrm>
            <a:off x="8807805" y="2221992"/>
            <a:ext cx="2424683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800" b="1">
                <a:solidFill>
                  <a:srgbClr val="FFC857"/>
                </a:solidFill>
                <a:latin typeface="Segoe UI"/>
              </a:rPr>
              <a:t>GitHub e Copilot</a:t>
            </a:r>
          </a:p>
          <a:p>
            <a:pPr>
              <a:lnSpc>
                <a:spcPct val="108000"/>
              </a:lnSpc>
            </a:pPr>
            <a:r>
              <a:rPr sz="1500" b="0">
                <a:solidFill>
                  <a:srgbClr val="EDEFF2"/>
                </a:solidFill>
                <a:latin typeface="Segoe UI"/>
              </a:rPr>
              <a:t>Código, Git e assistente no editor</a:t>
            </a:r>
          </a:p>
        </p:txBody>
      </p:sp>
      <p:pic>
        <p:nvPicPr>
          <p:cNvPr id="11" name="Ícone plugin 1" descr="Ícone do Ja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901" y="3502151"/>
            <a:ext cx="475488" cy="475488"/>
          </a:xfrm>
          <a:prstGeom prst="rect">
            <a:avLst/>
          </a:prstGeom>
        </p:spPr>
      </p:pic>
      <p:sp>
        <p:nvSpPr>
          <p:cNvPr id="12" name="Plugin 1"/>
          <p:cNvSpPr txBox="1"/>
          <p:nvPr/>
        </p:nvSpPr>
        <p:spPr>
          <a:xfrm>
            <a:off x="1452981" y="3474720"/>
            <a:ext cx="4754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600" b="1">
                <a:solidFill>
                  <a:srgbClr val="EDEFF2"/>
                </a:solidFill>
                <a:latin typeface="Segoe UI"/>
              </a:rPr>
              <a:t>Extension Pack for Java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B8C2CC"/>
                </a:solidFill>
                <a:latin typeface="Segoe UI"/>
              </a:rPr>
              <a:t>Abre o projeto do Eclipse, compila e refatora</a:t>
            </a:r>
          </a:p>
        </p:txBody>
      </p:sp>
      <p:pic>
        <p:nvPicPr>
          <p:cNvPr id="13" name="Ícone plugin 2" descr="Ícone do Spring Boo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901" y="4087368"/>
            <a:ext cx="475488" cy="475488"/>
          </a:xfrm>
          <a:prstGeom prst="rect">
            <a:avLst/>
          </a:prstGeom>
        </p:spPr>
      </p:pic>
      <p:sp>
        <p:nvSpPr>
          <p:cNvPr id="14" name="Plugin 2"/>
          <p:cNvSpPr txBox="1"/>
          <p:nvPr/>
        </p:nvSpPr>
        <p:spPr>
          <a:xfrm>
            <a:off x="1452981" y="4059935"/>
            <a:ext cx="4754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600" b="1">
                <a:solidFill>
                  <a:srgbClr val="EDEFF2"/>
                </a:solidFill>
                <a:latin typeface="Segoe UI"/>
              </a:rPr>
              <a:t>Spring Boot Extension Pack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B8C2CC"/>
                </a:solidFill>
                <a:latin typeface="Segoe UI"/>
              </a:rPr>
              <a:t>Autocompleta o application.properties</a:t>
            </a:r>
          </a:p>
        </p:txBody>
      </p:sp>
      <p:pic>
        <p:nvPicPr>
          <p:cNvPr id="15" name="Ícone plugin 3" descr="Ícone de arroba, anotaçã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901" y="4672584"/>
            <a:ext cx="475488" cy="475488"/>
          </a:xfrm>
          <a:prstGeom prst="rect">
            <a:avLst/>
          </a:prstGeom>
        </p:spPr>
      </p:pic>
      <p:sp>
        <p:nvSpPr>
          <p:cNvPr id="16" name="Plugin 3"/>
          <p:cNvSpPr txBox="1"/>
          <p:nvPr/>
        </p:nvSpPr>
        <p:spPr>
          <a:xfrm>
            <a:off x="1452981" y="4645152"/>
            <a:ext cx="4754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600" b="1">
                <a:solidFill>
                  <a:srgbClr val="EDEFF2"/>
                </a:solidFill>
                <a:latin typeface="Segoe UI"/>
              </a:rPr>
              <a:t>Lombok Annotations Support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B8C2CC"/>
                </a:solidFill>
                <a:latin typeface="Segoe UI"/>
              </a:rPr>
              <a:t>Getters e setters por anotação, sem avisos falsos</a:t>
            </a:r>
          </a:p>
        </p:txBody>
      </p:sp>
      <p:pic>
        <p:nvPicPr>
          <p:cNvPr id="17" name="Ícone plugin 4" descr="Ícone do Reac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901" y="5257800"/>
            <a:ext cx="475488" cy="475488"/>
          </a:xfrm>
          <a:prstGeom prst="rect">
            <a:avLst/>
          </a:prstGeom>
        </p:spPr>
      </p:pic>
      <p:sp>
        <p:nvSpPr>
          <p:cNvPr id="18" name="Plugin 4"/>
          <p:cNvSpPr txBox="1"/>
          <p:nvPr/>
        </p:nvSpPr>
        <p:spPr>
          <a:xfrm>
            <a:off x="1452981" y="5230368"/>
            <a:ext cx="4754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600" b="1">
                <a:solidFill>
                  <a:srgbClr val="EDEFF2"/>
                </a:solidFill>
                <a:latin typeface="Segoe UI"/>
              </a:rPr>
              <a:t>ES7+ React snippets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B8C2CC"/>
                </a:solidFill>
                <a:latin typeface="Segoe UI"/>
              </a:rPr>
              <a:t>Atalhos como rfce criam componentes em segundos</a:t>
            </a:r>
          </a:p>
        </p:txBody>
      </p:sp>
      <p:pic>
        <p:nvPicPr>
          <p:cNvPr id="19" name="Ícone plugin 5" descr="Ícone de rai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901" y="5843016"/>
            <a:ext cx="475488" cy="475488"/>
          </a:xfrm>
          <a:prstGeom prst="rect">
            <a:avLst/>
          </a:prstGeom>
        </p:spPr>
      </p:pic>
      <p:sp>
        <p:nvSpPr>
          <p:cNvPr id="20" name="Plugin 5"/>
          <p:cNvSpPr txBox="1"/>
          <p:nvPr/>
        </p:nvSpPr>
        <p:spPr>
          <a:xfrm>
            <a:off x="1452981" y="5815583"/>
            <a:ext cx="4754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600" b="1">
                <a:solidFill>
                  <a:srgbClr val="EDEFF2"/>
                </a:solidFill>
                <a:latin typeface="Segoe UI"/>
              </a:rPr>
              <a:t>Thunder Client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B8C2CC"/>
                </a:solidFill>
                <a:latin typeface="Segoe UI"/>
              </a:rPr>
              <a:t>Testa a API e o token sem sair do editor</a:t>
            </a:r>
          </a:p>
        </p:txBody>
      </p:sp>
      <p:pic>
        <p:nvPicPr>
          <p:cNvPr id="21" name="Ilustração do VS Code" descr="Ilustração de um editor estilo VS Code com o código Java do back-end e o React do front-end lado a lado, explorador de arquivos e terminal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2473" y="3520440"/>
            <a:ext cx="4846320" cy="2850776"/>
          </a:xfrm>
          <a:prstGeom prst="rect">
            <a:avLst/>
          </a:prstGeom>
        </p:spPr>
      </p:pic>
      <p:pic>
        <p:nvPicPr>
          <p:cNvPr id="22" name="Logotipo" descr="Logotipo Avaliação Escolas: pin de mapa com capelo e estrela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08208" y="566928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Validação e publicação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35126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código ao deploy no Render</a:t>
            </a:r>
            <a:endParaRPr lang="en-US" sz="3600" dirty="0"/>
          </a:p>
        </p:txBody>
      </p:sp>
      <p:sp>
        <p:nvSpPr>
          <p:cNvPr id="4" name="Passo 1"/>
          <p:cNvSpPr/>
          <p:nvPr/>
        </p:nvSpPr>
        <p:spPr>
          <a:xfrm>
            <a:off x="812901" y="2112264"/>
            <a:ext cx="2368296" cy="1600200"/>
          </a:xfrm>
          <a:prstGeom prst="roundRect">
            <a:avLst>
              <a:gd name="adj" fmla="val 9070"/>
            </a:avLst>
          </a:prstGeom>
          <a:solidFill>
            <a:srgbClr val="1C232C"/>
          </a:solidFill>
          <a:ln w="6350">
            <a:solidFill>
              <a:srgbClr val="2C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Ícone passo 1" descr="Ícone de chav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061" y="2249424"/>
            <a:ext cx="457200" cy="457200"/>
          </a:xfrm>
          <a:prstGeom prst="rect">
            <a:avLst/>
          </a:prstGeom>
        </p:spPr>
      </p:pic>
      <p:sp>
        <p:nvSpPr>
          <p:cNvPr id="6" name="Número passo 1"/>
          <p:cNvSpPr txBox="1"/>
          <p:nvPr/>
        </p:nvSpPr>
        <p:spPr>
          <a:xfrm>
            <a:off x="2632557" y="2221992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2800" b="1">
                <a:solidFill>
                  <a:srgbClr val="FFC857"/>
                </a:solidFill>
                <a:latin typeface="Segoe UI"/>
              </a:rPr>
              <a:t>1</a:t>
            </a:r>
          </a:p>
        </p:txBody>
      </p:sp>
      <p:sp>
        <p:nvSpPr>
          <p:cNvPr id="7" name="Título passo 1"/>
          <p:cNvSpPr txBox="1"/>
          <p:nvPr/>
        </p:nvSpPr>
        <p:spPr>
          <a:xfrm>
            <a:off x="950061" y="2788920"/>
            <a:ext cx="20939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600" b="1">
                <a:solidFill>
                  <a:srgbClr val="FFC857"/>
                </a:solidFill>
                <a:latin typeface="Segoe UI"/>
              </a:rPr>
              <a:t>JWS</a:t>
            </a:r>
          </a:p>
        </p:txBody>
      </p:sp>
      <p:sp>
        <p:nvSpPr>
          <p:cNvPr id="8" name="Texto passo 1"/>
          <p:cNvSpPr txBox="1"/>
          <p:nvPr/>
        </p:nvSpPr>
        <p:spPr>
          <a:xfrm>
            <a:off x="950061" y="3099816"/>
            <a:ext cx="209397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EDEFF2"/>
                </a:solidFill>
                <a:latin typeface="Segoe UI"/>
              </a:rPr>
              <a:t>Login gera o token no Spring Boot</a:t>
            </a:r>
          </a:p>
        </p:txBody>
      </p:sp>
      <p:sp>
        <p:nvSpPr>
          <p:cNvPr id="9" name="Seta 1"/>
          <p:cNvSpPr txBox="1"/>
          <p:nvPr/>
        </p:nvSpPr>
        <p:spPr>
          <a:xfrm>
            <a:off x="3199485" y="2569464"/>
            <a:ext cx="32918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2800" b="1">
                <a:solidFill>
                  <a:srgbClr val="FFC857"/>
                </a:solidFill>
                <a:latin typeface="Segoe UI"/>
              </a:rPr>
              <a:t>→</a:t>
            </a:r>
          </a:p>
        </p:txBody>
      </p:sp>
      <p:sp>
        <p:nvSpPr>
          <p:cNvPr id="10" name="Passo 2"/>
          <p:cNvSpPr/>
          <p:nvPr/>
        </p:nvSpPr>
        <p:spPr>
          <a:xfrm>
            <a:off x="3544214" y="2112264"/>
            <a:ext cx="2368296" cy="1600200"/>
          </a:xfrm>
          <a:prstGeom prst="roundRect">
            <a:avLst>
              <a:gd name="adj" fmla="val 9070"/>
            </a:avLst>
          </a:prstGeom>
          <a:solidFill>
            <a:srgbClr val="1C232C"/>
          </a:solidFill>
          <a:ln w="6350">
            <a:solidFill>
              <a:srgbClr val="2C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Ícone passo 2" descr="Ícone de ra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1374" y="2249424"/>
            <a:ext cx="457200" cy="457200"/>
          </a:xfrm>
          <a:prstGeom prst="rect">
            <a:avLst/>
          </a:prstGeom>
        </p:spPr>
      </p:pic>
      <p:sp>
        <p:nvSpPr>
          <p:cNvPr id="12" name="Número passo 2"/>
          <p:cNvSpPr txBox="1"/>
          <p:nvPr/>
        </p:nvSpPr>
        <p:spPr>
          <a:xfrm>
            <a:off x="5363870" y="2221992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2800" b="1">
                <a:solidFill>
                  <a:srgbClr val="FFC857"/>
                </a:solidFill>
                <a:latin typeface="Segoe UI"/>
              </a:rPr>
              <a:t>2</a:t>
            </a:r>
          </a:p>
        </p:txBody>
      </p:sp>
      <p:sp>
        <p:nvSpPr>
          <p:cNvPr id="13" name="Título passo 2"/>
          <p:cNvSpPr txBox="1"/>
          <p:nvPr/>
        </p:nvSpPr>
        <p:spPr>
          <a:xfrm>
            <a:off x="3681374" y="2788920"/>
            <a:ext cx="20939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600" b="1">
                <a:solidFill>
                  <a:srgbClr val="FFC857"/>
                </a:solidFill>
                <a:latin typeface="Segoe UI"/>
              </a:rPr>
              <a:t>Thunder Client</a:t>
            </a:r>
          </a:p>
        </p:txBody>
      </p:sp>
      <p:sp>
        <p:nvSpPr>
          <p:cNvPr id="14" name="Texto passo 2"/>
          <p:cNvSpPr txBox="1"/>
          <p:nvPr/>
        </p:nvSpPr>
        <p:spPr>
          <a:xfrm>
            <a:off x="3681374" y="3099816"/>
            <a:ext cx="209397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EDEFF2"/>
                </a:solidFill>
                <a:latin typeface="Segoe UI"/>
              </a:rPr>
              <a:t>200 com token; sem token, 401</a:t>
            </a:r>
          </a:p>
        </p:txBody>
      </p:sp>
      <p:sp>
        <p:nvSpPr>
          <p:cNvPr id="15" name="Seta 2"/>
          <p:cNvSpPr txBox="1"/>
          <p:nvPr/>
        </p:nvSpPr>
        <p:spPr>
          <a:xfrm>
            <a:off x="5930798" y="2569464"/>
            <a:ext cx="32918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2800" b="1">
                <a:solidFill>
                  <a:srgbClr val="FFC857"/>
                </a:solidFill>
                <a:latin typeface="Segoe UI"/>
              </a:rPr>
              <a:t>→</a:t>
            </a:r>
          </a:p>
        </p:txBody>
      </p:sp>
      <p:sp>
        <p:nvSpPr>
          <p:cNvPr id="16" name="Passo 3"/>
          <p:cNvSpPr/>
          <p:nvPr/>
        </p:nvSpPr>
        <p:spPr>
          <a:xfrm>
            <a:off x="6275527" y="2112264"/>
            <a:ext cx="2368296" cy="1600200"/>
          </a:xfrm>
          <a:prstGeom prst="roundRect">
            <a:avLst>
              <a:gd name="adj" fmla="val 9070"/>
            </a:avLst>
          </a:prstGeom>
          <a:solidFill>
            <a:srgbClr val="1C232C"/>
          </a:solidFill>
          <a:ln w="6350">
            <a:solidFill>
              <a:srgbClr val="2C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Ícone passo 3" descr="Ícone do Reac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2687" y="2249424"/>
            <a:ext cx="457200" cy="457200"/>
          </a:xfrm>
          <a:prstGeom prst="rect">
            <a:avLst/>
          </a:prstGeom>
        </p:spPr>
      </p:pic>
      <p:sp>
        <p:nvSpPr>
          <p:cNvPr id="18" name="Número passo 3"/>
          <p:cNvSpPr txBox="1"/>
          <p:nvPr/>
        </p:nvSpPr>
        <p:spPr>
          <a:xfrm>
            <a:off x="8095183" y="2221992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2800" b="1">
                <a:solidFill>
                  <a:srgbClr val="FFC857"/>
                </a:solidFill>
                <a:latin typeface="Segoe UI"/>
              </a:rPr>
              <a:t>3</a:t>
            </a:r>
          </a:p>
        </p:txBody>
      </p:sp>
      <p:sp>
        <p:nvSpPr>
          <p:cNvPr id="19" name="Título passo 3"/>
          <p:cNvSpPr txBox="1"/>
          <p:nvPr/>
        </p:nvSpPr>
        <p:spPr>
          <a:xfrm>
            <a:off x="6412687" y="2788920"/>
            <a:ext cx="20939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600" b="1">
                <a:solidFill>
                  <a:srgbClr val="FFC857"/>
                </a:solidFill>
                <a:latin typeface="Segoe UI"/>
              </a:rPr>
              <a:t>React + Axios</a:t>
            </a:r>
          </a:p>
        </p:txBody>
      </p:sp>
      <p:sp>
        <p:nvSpPr>
          <p:cNvPr id="20" name="Texto passo 3"/>
          <p:cNvSpPr txBox="1"/>
          <p:nvPr/>
        </p:nvSpPr>
        <p:spPr>
          <a:xfrm>
            <a:off x="6412687" y="3099816"/>
            <a:ext cx="209397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EDEFF2"/>
                </a:solidFill>
                <a:latin typeface="Segoe UI"/>
              </a:rPr>
              <a:t>Envia o cabeçalho Authorization</a:t>
            </a:r>
          </a:p>
        </p:txBody>
      </p:sp>
      <p:sp>
        <p:nvSpPr>
          <p:cNvPr id="21" name="Seta 3"/>
          <p:cNvSpPr txBox="1"/>
          <p:nvPr/>
        </p:nvSpPr>
        <p:spPr>
          <a:xfrm>
            <a:off x="8662111" y="2569464"/>
            <a:ext cx="32918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2800" b="1">
                <a:solidFill>
                  <a:srgbClr val="FFC857"/>
                </a:solidFill>
                <a:latin typeface="Segoe UI"/>
              </a:rPr>
              <a:t>→</a:t>
            </a:r>
          </a:p>
        </p:txBody>
      </p:sp>
      <p:sp>
        <p:nvSpPr>
          <p:cNvPr id="22" name="Passo 4"/>
          <p:cNvSpPr/>
          <p:nvPr/>
        </p:nvSpPr>
        <p:spPr>
          <a:xfrm>
            <a:off x="9006840" y="2112264"/>
            <a:ext cx="2368296" cy="1600200"/>
          </a:xfrm>
          <a:prstGeom prst="roundRect">
            <a:avLst>
              <a:gd name="adj" fmla="val 9070"/>
            </a:avLst>
          </a:prstGeom>
          <a:solidFill>
            <a:srgbClr val="1C232C"/>
          </a:solidFill>
          <a:ln w="6350">
            <a:solidFill>
              <a:srgbClr val="2C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Ícone passo 4" descr="Ícone de fogue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2249424"/>
            <a:ext cx="457200" cy="457200"/>
          </a:xfrm>
          <a:prstGeom prst="rect">
            <a:avLst/>
          </a:prstGeom>
        </p:spPr>
      </p:pic>
      <p:sp>
        <p:nvSpPr>
          <p:cNvPr id="24" name="Número passo 4"/>
          <p:cNvSpPr txBox="1"/>
          <p:nvPr/>
        </p:nvSpPr>
        <p:spPr>
          <a:xfrm>
            <a:off x="10826496" y="2221992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2800" b="1">
                <a:solidFill>
                  <a:srgbClr val="FFC857"/>
                </a:solidFill>
                <a:latin typeface="Segoe UI"/>
              </a:rPr>
              <a:t>4</a:t>
            </a:r>
          </a:p>
        </p:txBody>
      </p:sp>
      <p:sp>
        <p:nvSpPr>
          <p:cNvPr id="25" name="Título passo 4"/>
          <p:cNvSpPr txBox="1"/>
          <p:nvPr/>
        </p:nvSpPr>
        <p:spPr>
          <a:xfrm>
            <a:off x="9144000" y="2788920"/>
            <a:ext cx="20939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600" b="1">
                <a:solidFill>
                  <a:srgbClr val="FFC857"/>
                </a:solidFill>
                <a:latin typeface="Segoe UI"/>
              </a:rPr>
              <a:t>Deploy</a:t>
            </a:r>
          </a:p>
        </p:txBody>
      </p:sp>
      <p:sp>
        <p:nvSpPr>
          <p:cNvPr id="26" name="Texto passo 4"/>
          <p:cNvSpPr txBox="1"/>
          <p:nvPr/>
        </p:nvSpPr>
        <p:spPr>
          <a:xfrm>
            <a:off x="9144000" y="3099816"/>
            <a:ext cx="209397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EDEFF2"/>
                </a:solidFill>
                <a:latin typeface="Segoe UI"/>
              </a:rPr>
              <a:t>git push e o Render publica</a:t>
            </a:r>
          </a:p>
        </p:txBody>
      </p:sp>
      <p:sp>
        <p:nvSpPr>
          <p:cNvPr id="27" name="Título serviços"/>
          <p:cNvSpPr txBox="1"/>
          <p:nvPr/>
        </p:nvSpPr>
        <p:spPr>
          <a:xfrm>
            <a:off x="812901" y="3931920"/>
            <a:ext cx="56327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800" b="1">
                <a:solidFill>
                  <a:srgbClr val="FFC857"/>
                </a:solidFill>
                <a:latin typeface="Segoe UI"/>
              </a:rPr>
              <a:t>No Render, três serviços</a:t>
            </a:r>
          </a:p>
        </p:txBody>
      </p:sp>
      <p:sp>
        <p:nvSpPr>
          <p:cNvPr id="28" name="Serviço 1"/>
          <p:cNvSpPr/>
          <p:nvPr/>
        </p:nvSpPr>
        <p:spPr>
          <a:xfrm>
            <a:off x="812901" y="4297680"/>
            <a:ext cx="1783080" cy="1188720"/>
          </a:xfrm>
          <a:prstGeom prst="roundRect">
            <a:avLst>
              <a:gd name="adj" fmla="val 9070"/>
            </a:avLst>
          </a:prstGeom>
          <a:solidFill>
            <a:srgbClr val="1C232C"/>
          </a:solidFill>
          <a:ln w="6350">
            <a:solidFill>
              <a:srgbClr val="2C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Ícone serviço 1" descr="Ícone do PostgreSQ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629" y="4407408"/>
            <a:ext cx="457200" cy="457200"/>
          </a:xfrm>
          <a:prstGeom prst="rect">
            <a:avLst/>
          </a:prstGeom>
        </p:spPr>
      </p:pic>
      <p:sp>
        <p:nvSpPr>
          <p:cNvPr id="30" name="Nome serviço 1"/>
          <p:cNvSpPr txBox="1"/>
          <p:nvPr/>
        </p:nvSpPr>
        <p:spPr>
          <a:xfrm>
            <a:off x="922629" y="4919472"/>
            <a:ext cx="16184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600" b="1">
                <a:solidFill>
                  <a:srgbClr val="EDEFF2"/>
                </a:solidFill>
                <a:latin typeface="Segoe UI"/>
              </a:rPr>
              <a:t>PostgreSQL</a:t>
            </a:r>
          </a:p>
        </p:txBody>
      </p:sp>
      <p:sp>
        <p:nvSpPr>
          <p:cNvPr id="31" name="Tipo serviço 1"/>
          <p:cNvSpPr txBox="1"/>
          <p:nvPr/>
        </p:nvSpPr>
        <p:spPr>
          <a:xfrm>
            <a:off x="922629" y="5184648"/>
            <a:ext cx="161848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400" b="0">
                <a:solidFill>
                  <a:srgbClr val="B8C2CC"/>
                </a:solidFill>
                <a:latin typeface="Segoe UI"/>
              </a:rPr>
              <a:t>Banco de dados</a:t>
            </a:r>
          </a:p>
        </p:txBody>
      </p:sp>
      <p:sp>
        <p:nvSpPr>
          <p:cNvPr id="32" name="Serviço 2"/>
          <p:cNvSpPr/>
          <p:nvPr/>
        </p:nvSpPr>
        <p:spPr>
          <a:xfrm>
            <a:off x="2737713" y="4297680"/>
            <a:ext cx="1783080" cy="1188720"/>
          </a:xfrm>
          <a:prstGeom prst="roundRect">
            <a:avLst>
              <a:gd name="adj" fmla="val 9070"/>
            </a:avLst>
          </a:prstGeom>
          <a:solidFill>
            <a:srgbClr val="1C232C"/>
          </a:solidFill>
          <a:ln w="6350">
            <a:solidFill>
              <a:srgbClr val="2C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Ícone serviço 2" descr="Ícone do Spring Boo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47441" y="4407408"/>
            <a:ext cx="457200" cy="457200"/>
          </a:xfrm>
          <a:prstGeom prst="rect">
            <a:avLst/>
          </a:prstGeom>
        </p:spPr>
      </p:pic>
      <p:sp>
        <p:nvSpPr>
          <p:cNvPr id="34" name="Nome serviço 2"/>
          <p:cNvSpPr txBox="1"/>
          <p:nvPr/>
        </p:nvSpPr>
        <p:spPr>
          <a:xfrm>
            <a:off x="2847441" y="4919472"/>
            <a:ext cx="16184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600" b="1">
                <a:solidFill>
                  <a:srgbClr val="EDEFF2"/>
                </a:solidFill>
                <a:latin typeface="Segoe UI"/>
              </a:rPr>
              <a:t>Spring Boot</a:t>
            </a:r>
          </a:p>
        </p:txBody>
      </p:sp>
      <p:sp>
        <p:nvSpPr>
          <p:cNvPr id="35" name="Tipo serviço 2"/>
          <p:cNvSpPr txBox="1"/>
          <p:nvPr/>
        </p:nvSpPr>
        <p:spPr>
          <a:xfrm>
            <a:off x="2847441" y="5184648"/>
            <a:ext cx="161848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400" b="0">
                <a:solidFill>
                  <a:srgbClr val="B8C2CC"/>
                </a:solidFill>
                <a:latin typeface="Segoe UI"/>
              </a:rPr>
              <a:t>Web Service</a:t>
            </a:r>
          </a:p>
        </p:txBody>
      </p:sp>
      <p:sp>
        <p:nvSpPr>
          <p:cNvPr id="36" name="Serviço 3"/>
          <p:cNvSpPr/>
          <p:nvPr/>
        </p:nvSpPr>
        <p:spPr>
          <a:xfrm>
            <a:off x="4662525" y="4297680"/>
            <a:ext cx="1783080" cy="1188720"/>
          </a:xfrm>
          <a:prstGeom prst="roundRect">
            <a:avLst>
              <a:gd name="adj" fmla="val 9070"/>
            </a:avLst>
          </a:prstGeom>
          <a:solidFill>
            <a:srgbClr val="1C232C"/>
          </a:solidFill>
          <a:ln w="6350">
            <a:solidFill>
              <a:srgbClr val="2C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Ícone serviço 3" descr="Ícone do Reac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2253" y="4407408"/>
            <a:ext cx="457200" cy="457200"/>
          </a:xfrm>
          <a:prstGeom prst="rect">
            <a:avLst/>
          </a:prstGeom>
        </p:spPr>
      </p:pic>
      <p:sp>
        <p:nvSpPr>
          <p:cNvPr id="38" name="Nome serviço 3"/>
          <p:cNvSpPr txBox="1"/>
          <p:nvPr/>
        </p:nvSpPr>
        <p:spPr>
          <a:xfrm>
            <a:off x="4772253" y="4919472"/>
            <a:ext cx="16184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600" b="1">
                <a:solidFill>
                  <a:srgbClr val="EDEFF2"/>
                </a:solidFill>
                <a:latin typeface="Segoe UI"/>
              </a:rPr>
              <a:t>React</a:t>
            </a:r>
          </a:p>
        </p:txBody>
      </p:sp>
      <p:sp>
        <p:nvSpPr>
          <p:cNvPr id="39" name="Tipo serviço 3"/>
          <p:cNvSpPr txBox="1"/>
          <p:nvPr/>
        </p:nvSpPr>
        <p:spPr>
          <a:xfrm>
            <a:off x="4772253" y="5184648"/>
            <a:ext cx="161848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1400" b="0">
                <a:solidFill>
                  <a:srgbClr val="B8C2CC"/>
                </a:solidFill>
                <a:latin typeface="Segoe UI"/>
              </a:rPr>
              <a:t>Static Site</a:t>
            </a:r>
          </a:p>
        </p:txBody>
      </p:sp>
      <p:sp>
        <p:nvSpPr>
          <p:cNvPr id="40" name="Aviso: segredos"/>
          <p:cNvSpPr/>
          <p:nvPr/>
        </p:nvSpPr>
        <p:spPr>
          <a:xfrm>
            <a:off x="812901" y="5669280"/>
            <a:ext cx="5632704" cy="731520"/>
          </a:xfrm>
          <a:prstGeom prst="roundRect">
            <a:avLst>
              <a:gd name="adj" fmla="val 9070"/>
            </a:avLst>
          </a:prstGeom>
          <a:solidFill>
            <a:srgbClr val="1C232C"/>
          </a:solidFill>
          <a:ln w="6350">
            <a:solidFill>
              <a:srgbClr val="2C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Ícone segurança" descr="Ícone de escudo com marca de verificaçã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9205" y="5806440"/>
            <a:ext cx="457200" cy="457200"/>
          </a:xfrm>
          <a:prstGeom prst="rect">
            <a:avLst/>
          </a:prstGeom>
        </p:spPr>
      </p:pic>
      <p:sp>
        <p:nvSpPr>
          <p:cNvPr id="42" name="Texto segredos"/>
          <p:cNvSpPr txBox="1"/>
          <p:nvPr/>
        </p:nvSpPr>
        <p:spPr>
          <a:xfrm>
            <a:off x="1590141" y="5742432"/>
            <a:ext cx="46634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EDEFF2"/>
                </a:solidFill>
                <a:latin typeface="Segoe UI"/>
              </a:rPr>
              <a:t>JWT_SECRET e a URL do banco ficam só no painel do Render, fora do GitHub.</a:t>
            </a:r>
          </a:p>
        </p:txBody>
      </p:sp>
      <p:pic>
        <p:nvPicPr>
          <p:cNvPr id="43" name="Ilustração do teste da API" descr="Ilustração do Thunder Client: login retorna 200 OK com o token; exclusão sem token retorna 401 Unauthorize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1113" y="3931920"/>
            <a:ext cx="4297680" cy="2578608"/>
          </a:xfrm>
          <a:prstGeom prst="rect">
            <a:avLst/>
          </a:prstGeom>
        </p:spPr>
      </p:pic>
      <p:pic>
        <p:nvPicPr>
          <p:cNvPr id="44" name="Logotipo" descr="Logotipo Avaliação Escolas: pin de mapa com capelo e estrela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566928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técnica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35126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Tecnologias do sistema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111276"/>
            <a:ext cx="3078758" cy="1085155"/>
          </a:xfrm>
          <a:prstGeom prst="roundRect">
            <a:avLst>
              <a:gd name="adj" fmla="val 907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22350" y="2317651"/>
            <a:ext cx="274598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22350" y="2698651"/>
            <a:ext cx="2745988" cy="316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e Fluent UI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050308" y="2369344"/>
            <a:ext cx="420767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556522" y="2111276"/>
            <a:ext cx="3078857" cy="1085155"/>
          </a:xfrm>
          <a:prstGeom prst="roundRect">
            <a:avLst>
              <a:gd name="adj" fmla="val 907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762897" y="2317651"/>
            <a:ext cx="274609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REST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62897" y="2698651"/>
            <a:ext cx="2746090" cy="316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 21 e Spring Boot 3.3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90954" y="2369344"/>
            <a:ext cx="420767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8297168" y="2111276"/>
            <a:ext cx="3078857" cy="1085155"/>
          </a:xfrm>
          <a:prstGeom prst="roundRect">
            <a:avLst>
              <a:gd name="adj" fmla="val 907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8503543" y="2317651"/>
            <a:ext cx="274609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Banco de dados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03543" y="2698651"/>
            <a:ext cx="2746090" cy="316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12800" y="3453606"/>
            <a:ext cx="10883392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Integrações e entrega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15975" y="3985022"/>
            <a:ext cx="3414117" cy="1376561"/>
          </a:xfrm>
          <a:prstGeom prst="roundRect">
            <a:avLst>
              <a:gd name="adj" fmla="val 715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022350" y="4191397"/>
            <a:ext cx="309140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Maps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22350" y="4572397"/>
            <a:ext cx="3091408" cy="316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Mapa e Geocoding API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388842" y="3985022"/>
            <a:ext cx="3414216" cy="1376561"/>
          </a:xfrm>
          <a:prstGeom prst="roundRect">
            <a:avLst>
              <a:gd name="adj" fmla="val 715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595217" y="4191397"/>
            <a:ext cx="309151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n8n + Gemini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595217" y="4572397"/>
            <a:ext cx="3091510" cy="316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Dados fictícios com IA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961809" y="3985022"/>
            <a:ext cx="3414216" cy="1376561"/>
          </a:xfrm>
          <a:prstGeom prst="roundRect">
            <a:avLst>
              <a:gd name="adj" fmla="val 715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8168184" y="4191397"/>
            <a:ext cx="309151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+ Render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168184" y="4572397"/>
            <a:ext cx="3091510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automático da API e do site</a:t>
            </a:r>
            <a:endParaRPr lang="en-US" sz="1700" dirty="0"/>
          </a:p>
        </p:txBody>
      </p:sp>
      <p:pic>
        <p:nvPicPr>
          <p:cNvPr id="25" name="Logotipo" descr="Logotipo Avaliação Escolas: pin de mapa com capelo e estrel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66928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geral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35126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sistema: Avaliação Escolas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111276"/>
            <a:ext cx="3078758" cy="1667966"/>
          </a:xfrm>
          <a:prstGeom prst="roundRect">
            <a:avLst>
              <a:gd name="adj" fmla="val 590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22350" y="2317651"/>
            <a:ext cx="274598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Cadastrar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22350" y="2698651"/>
            <a:ext cx="2745988" cy="8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Escolas, endereços, cursos, professores e perfil dos alunos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050308" y="2660749"/>
            <a:ext cx="420767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556522" y="2111276"/>
            <a:ext cx="3078857" cy="1667966"/>
          </a:xfrm>
          <a:prstGeom prst="roundRect">
            <a:avLst>
              <a:gd name="adj" fmla="val 590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762897" y="2317651"/>
            <a:ext cx="274609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Avaliar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62897" y="2698651"/>
            <a:ext cx="2746090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Qualidade da escola e notas dos cursos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90954" y="2660749"/>
            <a:ext cx="420767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8297168" y="2111276"/>
            <a:ext cx="3078857" cy="1667966"/>
          </a:xfrm>
          <a:prstGeom prst="roundRect">
            <a:avLst>
              <a:gd name="adj" fmla="val 590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8503543" y="2317651"/>
            <a:ext cx="274609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Acompanhar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03543" y="2698651"/>
            <a:ext cx="2746090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Mapa, relatório gerencial e ODS 4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12800" y="4036417"/>
            <a:ext cx="10883392" cy="676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5"/>
              </a:lnSpc>
              <a:buNone/>
            </a:pPr>
            <a:r>
              <a:rPr lang="en-US" sz="19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Gestores, pais e responsáveis veem onde as escolas ficam, como são avaliadas e como os alunos chegam até elas.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12800" y="4941888"/>
            <a:ext cx="10883392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600" dirty="0">
                <a:solidFill>
                  <a:srgbClr val="B8C2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Alunos sem nome: só indicadores de deslocamento, por privacidade.</a:t>
            </a:r>
            <a:endParaRPr lang="en-US" sz="1600" dirty="0"/>
          </a:p>
        </p:txBody>
      </p:sp>
      <p:pic>
        <p:nvPicPr>
          <p:cNvPr id="17" name="Logotipo" descr="Logotipo Avaliação Escolas: pin de mapa com capelo e estrel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66928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Integração com o Google Maps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35126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mapa é a porta de entrada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111276"/>
            <a:ext cx="3078758" cy="1667966"/>
          </a:xfrm>
          <a:prstGeom prst="roundRect">
            <a:avLst>
              <a:gd name="adj" fmla="val 590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22350" y="2317651"/>
            <a:ext cx="274598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CEP e endereço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22350" y="2698651"/>
            <a:ext cx="2745988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API consulta a base de CEP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050308" y="2660749"/>
            <a:ext cx="420767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556522" y="2111276"/>
            <a:ext cx="3078857" cy="1667966"/>
          </a:xfrm>
          <a:prstGeom prst="roundRect">
            <a:avLst>
              <a:gd name="adj" fmla="val 590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762897" y="2317651"/>
            <a:ext cx="274609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Geocoding API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62897" y="2698651"/>
            <a:ext cx="2746090" cy="8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Google devolve a latitude e a longitude, gravadas no banco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90954" y="2660749"/>
            <a:ext cx="420767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8297168" y="2111276"/>
            <a:ext cx="3078857" cy="1667966"/>
          </a:xfrm>
          <a:prstGeom prst="roundRect">
            <a:avLst>
              <a:gd name="adj" fmla="val 590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8503543" y="2317651"/>
            <a:ext cx="274609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Marcador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03543" y="2698651"/>
            <a:ext cx="2746090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escola aparece no Google Maps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64108" y="4036417"/>
            <a:ext cx="10824464" cy="8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2692" indent="-202692" algn="l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Clique no marcador: nota de qualidade, alunos e deslocamento da escola</a:t>
            </a:r>
            <a:endParaRPr lang="en-US" sz="1600" dirty="0"/>
          </a:p>
          <a:p>
            <a:pPr marL="202692" indent="-202692" algn="l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Lista lateral com busca por nome ou endereço</a:t>
            </a:r>
            <a:endParaRPr lang="en-US" sz="1600" dirty="0"/>
          </a:p>
          <a:p>
            <a:pPr marL="202692" indent="-202692" algn="l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Indicadores gerais no mesmo painel: escolas, alunos, nota média e zona rural</a:t>
            </a:r>
            <a:endParaRPr lang="en-US" sz="1600" dirty="0"/>
          </a:p>
        </p:txBody>
      </p:sp>
      <p:pic>
        <p:nvPicPr>
          <p:cNvPr id="16" name="Logotipo" descr="Logotipo Avaliação Escolas: pin de mapa com capelo e estrel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66928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Integração externa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35126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Dados: do fictício ao oficial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111276"/>
            <a:ext cx="3078758" cy="1667966"/>
          </a:xfrm>
          <a:prstGeom prst="roundRect">
            <a:avLst>
              <a:gd name="adj" fmla="val 590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22350" y="2317651"/>
            <a:ext cx="274598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n8n + Gemini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22350" y="2698651"/>
            <a:ext cx="2745988" cy="8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Gera escolas, endereços, cursos, professores, alunos e avaliações fictícios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050308" y="2660749"/>
            <a:ext cx="420767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556522" y="2111276"/>
            <a:ext cx="3078857" cy="1667966"/>
          </a:xfrm>
          <a:prstGeom prst="roundRect">
            <a:avLst>
              <a:gd name="adj" fmla="val 590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762897" y="2317651"/>
            <a:ext cx="274609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REST do sistema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62897" y="2698651"/>
            <a:ext cx="2746090" cy="316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Grava os dados no banco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90954" y="2660749"/>
            <a:ext cx="420767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8297168" y="2111276"/>
            <a:ext cx="3078857" cy="1667966"/>
          </a:xfrm>
          <a:prstGeom prst="roundRect">
            <a:avLst>
              <a:gd name="adj" fmla="val 590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8503543" y="2317651"/>
            <a:ext cx="274609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Mapa e relatórios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03543" y="2698651"/>
            <a:ext cx="2746090" cy="316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Mostram tudo na hora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12800" y="4036417"/>
            <a:ext cx="10883392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Próximo passo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800" y="4564658"/>
            <a:ext cx="10883392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Conectar o mesmo workflow a uma API REST oficial para importar informações reais, sem mudar a aplicação.</a:t>
            </a:r>
            <a:endParaRPr lang="en-US" sz="2000" dirty="0"/>
          </a:p>
        </p:txBody>
      </p:sp>
      <p:pic>
        <p:nvPicPr>
          <p:cNvPr id="17" name="Logotipo" descr="Logotipo Avaliação Escolas: pin de mapa com capelo e estrel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66928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Encerramento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351260"/>
            <a:ext cx="10883392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Dados confiáveis para uma educação de qualidade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614116"/>
            <a:ext cx="3414117" cy="1376561"/>
          </a:xfrm>
          <a:prstGeom prst="roundRect">
            <a:avLst>
              <a:gd name="adj" fmla="val 715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022350" y="2820491"/>
            <a:ext cx="309140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sistema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22350" y="3201491"/>
            <a:ext cx="3091408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Cadastros, avaliações, mapa e relatórios no ar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88842" y="2614116"/>
            <a:ext cx="3414216" cy="1376561"/>
          </a:xfrm>
          <a:prstGeom prst="roundRect">
            <a:avLst>
              <a:gd name="adj" fmla="val 715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95217" y="2820491"/>
            <a:ext cx="309151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integrações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95217" y="3201491"/>
            <a:ext cx="3091510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Maps, Geocoding API, n8n e Gemini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961809" y="2614116"/>
            <a:ext cx="3414216" cy="1376561"/>
          </a:xfrm>
          <a:prstGeom prst="roundRect">
            <a:avLst>
              <a:gd name="adj" fmla="val 715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168184" y="2820491"/>
            <a:ext cx="309151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próximo passo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168184" y="3201491"/>
            <a:ext cx="3091510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ligado a uma API REST com dados oficiais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12800" y="4247852"/>
            <a:ext cx="10883392" cy="351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5"/>
              </a:lnSpc>
              <a:buNone/>
            </a:pPr>
            <a:r>
              <a:rPr lang="en-US" sz="19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Meta: apoiar decisões que aproximem escolas e alunos, como pede o ODS 4.</a:t>
            </a:r>
            <a:endParaRPr lang="en-US" sz="1900" dirty="0"/>
          </a:p>
        </p:txBody>
      </p:sp>
      <p:pic>
        <p:nvPicPr>
          <p:cNvPr id="14" name="Logotipo" descr="Logotipo Avaliação Escolas: pin de mapa com capelo e estrel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66928"/>
            <a:ext cx="566928" cy="566928"/>
          </a:xfrm>
          <a:prstGeom prst="rect">
            <a:avLst/>
          </a:prstGeom>
        </p:spPr>
      </p:pic>
      <p:pic>
        <p:nvPicPr>
          <p:cNvPr id="15" name="Ícone do cartão" descr="Ícone de paine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3164" y="2751276"/>
            <a:ext cx="420624" cy="420624"/>
          </a:xfrm>
          <a:prstGeom prst="rect">
            <a:avLst/>
          </a:prstGeom>
        </p:spPr>
      </p:pic>
      <p:pic>
        <p:nvPicPr>
          <p:cNvPr id="16" name="Ícone do cartão" descr="Ícone de conexã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6130" y="2751276"/>
            <a:ext cx="420624" cy="420624"/>
          </a:xfrm>
          <a:prstGeom prst="rect">
            <a:avLst/>
          </a:prstGeom>
        </p:spPr>
      </p:pic>
      <p:pic>
        <p:nvPicPr>
          <p:cNvPr id="17" name="Ícone do cartão" descr="Ícone de alv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9096" y="2751276"/>
            <a:ext cx="420624" cy="420624"/>
          </a:xfrm>
          <a:prstGeom prst="rect">
            <a:avLst/>
          </a:prstGeom>
        </p:spPr>
      </p:pic>
      <p:pic>
        <p:nvPicPr>
          <p:cNvPr id="18" name="Ilustração da escola" descr="Ilustração: ônibus escolar e alunos a caminho da escola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4593828"/>
            <a:ext cx="12191695" cy="22641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Agradecimento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35126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Aprender não tem hora nem limite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2108101"/>
            <a:ext cx="10883392" cy="1002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pt-BR" dirty="0"/>
              <a:t>"Semear" ganha um significado ainda mais bonito: mesmo quando a visão física falha ou fica embaçada, a sua visão de futuro e o seu propósito continuam nítidos, plantando sementes de transformação que nenhuma barreira visual pode conter.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12800" y="3339306"/>
            <a:ext cx="10883392" cy="676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5"/>
              </a:lnSpc>
              <a:buNone/>
            </a:pPr>
            <a:r>
              <a:rPr lang="en-US" sz="1900" dirty="0">
                <a:solidFill>
                  <a:srgbClr val="EDEF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Este sistema mostra que dá para continuar construindo. Obrigado à Recode, ao Instituto BAT, aos professores, mentores e colegas da Turma 2.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12800" y="4244777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C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Leandro Crisci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12800" y="4635897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B8C2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leandrocrisci@msn.com</a:t>
            </a:r>
            <a:endParaRPr lang="en-US" sz="1600" dirty="0"/>
          </a:p>
        </p:txBody>
      </p:sp>
      <p:pic>
        <p:nvPicPr>
          <p:cNvPr id="8" name="Logotipo" descr="Logotipo Avaliação Escolas: pin de mapa com capelo e estrel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66928"/>
            <a:ext cx="566928" cy="566928"/>
          </a:xfrm>
          <a:prstGeom prst="rect">
            <a:avLst/>
          </a:prstGeom>
        </p:spPr>
      </p:pic>
      <p:pic>
        <p:nvPicPr>
          <p:cNvPr id="9" name="Ilustração livro e infinito" descr="Ilustração: livro aberto com o símbolo do infinito, aprender não tem limi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2553" y="4778155"/>
            <a:ext cx="4206240" cy="19884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Recode — Avaliação Escolas: apresentação executiva">
  <a:themeElements>
    <a:clrScheme name="Recode — Avaliação Escolas: apresentação executiva">
      <a:dk1>
        <a:srgbClr val="12161C"/>
      </a:dk1>
      <a:lt1>
        <a:srgbClr val="EDEFF2"/>
      </a:lt1>
      <a:dk2>
        <a:srgbClr val="282C31"/>
      </a:dk2>
      <a:lt2>
        <a:srgbClr val="B6B9BD"/>
      </a:lt2>
      <a:accent1>
        <a:srgbClr val="FFC857"/>
      </a:accent1>
      <a:accent2>
        <a:srgbClr val="B8C2CC"/>
      </a:accent2>
      <a:accent3>
        <a:srgbClr val="9AA0A6"/>
      </a:accent3>
      <a:accent4>
        <a:srgbClr val="95989C"/>
      </a:accent4>
      <a:accent5>
        <a:srgbClr val="75787C"/>
      </a:accent5>
      <a:accent6>
        <a:srgbClr val="54575C"/>
      </a:accent6>
      <a:hlink>
        <a:srgbClr val="0563C1"/>
      </a:hlink>
      <a:folHlink>
        <a:srgbClr val="954F72"/>
      </a:folHlink>
    </a:clrScheme>
    <a:fontScheme name="Recode — Avaliação Escolas: apresentação executiva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851</Words>
  <Application>Microsoft Office PowerPoint</Application>
  <PresentationFormat>Widescreen</PresentationFormat>
  <Paragraphs>167</Paragraphs>
  <Slides>11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4" baseType="lpstr">
      <vt:lpstr>Arial</vt:lpstr>
      <vt:lpstr>Segoe UI</vt:lpstr>
      <vt:lpstr>Recode — Avaliação Escolas: apresentação executiva</vt:lpstr>
      <vt:lpstr>Recode PRO AI: 295 horas de formação</vt:lpstr>
      <vt:lpstr>ODS 4: Educação de qualidade</vt:lpstr>
      <vt:lpstr>Como a Recode me preparou</vt:lpstr>
      <vt:lpstr>Do Eclipse ao VS Code</vt:lpstr>
      <vt:lpstr>Do código ao deploy no Render</vt:lpstr>
      <vt:lpstr>Tecnologias do sistema</vt:lpstr>
      <vt:lpstr>O sistema: Avaliação Escolas</vt:lpstr>
      <vt:lpstr>O mapa é a porta de entrada</vt:lpstr>
      <vt:lpstr>Dados: do fictício ao oficial</vt:lpstr>
      <vt:lpstr>Dados confiáveis para uma educação de qualidade</vt:lpstr>
      <vt:lpstr>Aprender não tem hora nem limite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Recode — Avaliação Escolas: apresentação executiva</dc:title>
  <dc:subject/>
  <dc:creator/>
  <cp:lastModifiedBy>Leandro Crisci</cp:lastModifiedBy>
  <cp:revision>3</cp:revision>
  <dcterms:created xsi:type="dcterms:W3CDTF">2026-10-22T00:25:32Z</dcterms:created>
  <dcterms:modified xsi:type="dcterms:W3CDTF">2026-10-27T18:40:04Z</dcterms:modified>
</cp:coreProperties>
</file>