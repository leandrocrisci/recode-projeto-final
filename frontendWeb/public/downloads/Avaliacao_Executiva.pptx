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T Sans" panose="020B0503020203020204" pitchFamily="34" charset="0"/>
      <p:regular r:id="rId14"/>
    </p:embeddedFont>
    <p:embeddedFont>
      <p:font typeface="PT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744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www.atlassian.com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jpe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Projeto SEMEAR ·  Leandro Crisci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283" y="457200"/>
            <a:ext cx="2194465" cy="820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Recode PRO AI: 381 horas de formação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780" y="2111812"/>
            <a:ext cx="1137891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20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Programa Transforma Futuros. Realização Recode, parceiro Instituto BAT.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15955" y="2673846"/>
            <a:ext cx="2591926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022324" y="2892604"/>
            <a:ext cx="17779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Módulo 1 · 90 h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2324" y="3156268"/>
            <a:ext cx="212719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Lógica de programação, HTML, CSS, JavaScript, Python e Git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018" y="2810966"/>
            <a:ext cx="420578" cy="4205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79326" y="2673846"/>
            <a:ext cx="2591926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3785696" y="2892604"/>
            <a:ext cx="17779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Módulo 2 · 90 h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785696" y="3156268"/>
            <a:ext cx="212719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Bancos SQL e NoSQL, Linux, nuvem, Docker, IA e Machine Learning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7489" y="2810966"/>
            <a:ext cx="420578" cy="4205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342797" y="2673846"/>
            <a:ext cx="2591926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/>
          <p:nvPr/>
        </p:nvSpPr>
        <p:spPr>
          <a:xfrm>
            <a:off x="6549167" y="2892604"/>
            <a:ext cx="17779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Módulo 3 · 115 h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49167" y="3156268"/>
            <a:ext cx="212719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Java, Spring, React JS, Angular JS e integração com API REST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555" y="2810966"/>
            <a:ext cx="420578" cy="42058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106268" y="2673846"/>
            <a:ext cx="2591926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9312637" y="2892604"/>
            <a:ext cx="17779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Módulo 4 · 86 h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312637" y="3156268"/>
            <a:ext cx="2127197" cy="120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Aulas online no período noturno, ministradas de segunda a quinta-feira, distribuídas ao longo de 54 aulas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593828"/>
            <a:ext cx="12191397" cy="22640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ONU · Agenda 2030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ODS 4: Educação de qualidade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780" y="2082125"/>
            <a:ext cx="1082588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21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Um dos 17 Objetivos de Desenvolvimento Sustentável. A meta é assegurar educação inclusiva, equitativa e de qualidade e promover oportunidades de aprendizagem ao longo da vida para todos.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12780" y="3346926"/>
            <a:ext cx="1137891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Como o sistema apoia o ODS 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15955" y="3870623"/>
            <a:ext cx="3414032" cy="1376462"/>
          </a:xfrm>
          <a:prstGeom prst="roundRect">
            <a:avLst>
              <a:gd name="adj" fmla="val 8580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22324" y="4082601"/>
            <a:ext cx="30912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Acesso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22324" y="4434840"/>
            <a:ext cx="303413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Distância, transporte e zona rural dos alunos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65" y="4007842"/>
            <a:ext cx="420578" cy="4205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88732" y="3870623"/>
            <a:ext cx="3414131" cy="1376462"/>
          </a:xfrm>
          <a:prstGeom prst="roundRect">
            <a:avLst>
              <a:gd name="adj" fmla="val 8580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4595102" y="4082601"/>
            <a:ext cx="30914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Equidade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95102" y="4434840"/>
            <a:ext cx="303433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Comparação entre escolas, regiões e tipos de escola</a:t>
            </a:r>
            <a:endParaRPr lang="en-US" sz="17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842" y="4007842"/>
            <a:ext cx="420578" cy="4205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961510" y="3870623"/>
            <a:ext cx="3414131" cy="1376462"/>
          </a:xfrm>
          <a:prstGeom prst="roundRect">
            <a:avLst>
              <a:gd name="adj" fmla="val 8580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8167880" y="4082601"/>
            <a:ext cx="30914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Qualidade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167880" y="4434840"/>
            <a:ext cx="303433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Notas de 1 a 5 para escolas e de 0 a 10 para cursos</a:t>
            </a:r>
            <a:endParaRPr lang="en-US" sz="17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819" y="4007842"/>
            <a:ext cx="420578" cy="420588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421114"/>
            <a:ext cx="12191397" cy="1436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Do curso ao sistema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SCRUM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79" y="4983460"/>
            <a:ext cx="5120452" cy="1051520"/>
          </a:xfrm>
          <a:prstGeom prst="roundRect">
            <a:avLst>
              <a:gd name="adj" fmla="val 10884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1727256" y="5177155"/>
            <a:ext cx="4678543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100" spc="20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Excel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27256" y="5472410"/>
            <a:ext cx="467854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20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Disponível no site para download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053085" y="5216406"/>
            <a:ext cx="493700" cy="52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6537757" y="4983460"/>
            <a:ext cx="4840662" cy="1051520"/>
          </a:xfrm>
          <a:prstGeom prst="roundRect">
            <a:avLst>
              <a:gd name="adj" fmla="val 10884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/>
          <p:nvPr/>
        </p:nvSpPr>
        <p:spPr>
          <a:xfrm>
            <a:off x="7452134" y="5170488"/>
            <a:ext cx="378916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100" spc="20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Jira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b="1" u="sng" kern="100" spc="20" dirty="0">
                <a:solidFill>
                  <a:srgbClr val="B8C2CC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</a:t>
            </a:r>
            <a:endParaRPr lang="en-US" sz="18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9DD6F0C-4D9E-4C3F-23A0-2DCDAF26D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353" y="1212045"/>
            <a:ext cx="6620979" cy="38486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Ambiente de desenvolvimento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Do Eclipse ao VS Code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79" y="2112169"/>
            <a:ext cx="10565540" cy="1097260"/>
          </a:xfrm>
          <a:prstGeom prst="roundRect">
            <a:avLst>
              <a:gd name="adj" fmla="val 10889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990" y="2386509"/>
            <a:ext cx="548567" cy="5485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3768" y="2228572"/>
            <a:ext cx="297698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100" spc="20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Um ambiente só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63768" y="2523827"/>
            <a:ext cx="23673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20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React e Spring Boot na mesma janela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870" y="2386509"/>
            <a:ext cx="548567" cy="5485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85647" y="2228572"/>
            <a:ext cx="297698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100" spc="20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Mais leve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285647" y="2523827"/>
            <a:ext cx="23673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20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Sobra memória para tudo rodar junto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750" y="2386509"/>
            <a:ext cx="548567" cy="5485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07527" y="2228572"/>
            <a:ext cx="297698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100" spc="20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GitHub e Copilot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807527" y="2523827"/>
            <a:ext cx="23673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20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Código, Git e assistente no editor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879" y="3502124"/>
            <a:ext cx="475444" cy="475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52923" y="3492937"/>
            <a:ext cx="536432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Extension Pack for Java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452923" y="3755787"/>
            <a:ext cx="536432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8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Abre o projeto do Eclipse, compila e refatora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879" y="4087316"/>
            <a:ext cx="475444" cy="475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52923" y="4078129"/>
            <a:ext cx="536432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Spring Boot Extension Pack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1452923" y="4340979"/>
            <a:ext cx="536432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8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Autocompleta o application.properties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79" y="4672509"/>
            <a:ext cx="475444" cy="475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52923" y="4663420"/>
            <a:ext cx="536432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Lombok Annotations Support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1452923" y="4926270"/>
            <a:ext cx="536432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8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Getters e setters por anotação, sem avisos falsos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879" y="5257800"/>
            <a:ext cx="475444" cy="475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452923" y="5248612"/>
            <a:ext cx="536432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ES7+ React snippets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1452923" y="5511463"/>
            <a:ext cx="536432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8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Atalhos como rfce criam componentes em segundos</a:t>
            </a:r>
            <a:endParaRPr lang="en-US" sz="14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879" y="5842992"/>
            <a:ext cx="475444" cy="47545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452923" y="5833805"/>
            <a:ext cx="5364326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Thunder Client</a:t>
            </a:r>
            <a:endParaRPr lang="en-US" sz="1600" dirty="0"/>
          </a:p>
        </p:txBody>
      </p:sp>
      <p:sp>
        <p:nvSpPr>
          <p:cNvPr id="29" name="Text 18"/>
          <p:cNvSpPr/>
          <p:nvPr/>
        </p:nvSpPr>
        <p:spPr>
          <a:xfrm>
            <a:off x="1452923" y="6096655"/>
            <a:ext cx="536432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8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Testa a API e o token sem sair do editor</a:t>
            </a:r>
            <a:endParaRPr lang="en-US" sz="14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2300" y="3520380"/>
            <a:ext cx="4846119" cy="28507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Validação e publicação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Do código ao deploy no Render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79" y="2112169"/>
            <a:ext cx="2368193" cy="1600200"/>
          </a:xfrm>
          <a:prstGeom prst="roundRect">
            <a:avLst>
              <a:gd name="adj" fmla="val 10885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96" y="2249388"/>
            <a:ext cx="457189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32505" y="2282349"/>
            <a:ext cx="49370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100" spc="31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1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949996" y="2823409"/>
            <a:ext cx="296051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JWS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49996" y="3112195"/>
            <a:ext cx="20367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17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Login gera o token no Spring Boot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199427" y="2601436"/>
            <a:ext cx="394881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100" spc="31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3544005" y="2112169"/>
            <a:ext cx="2368193" cy="1600200"/>
          </a:xfrm>
          <a:prstGeom prst="roundRect">
            <a:avLst>
              <a:gd name="adj" fmla="val 10885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221" y="2249388"/>
            <a:ext cx="457189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3631" y="2282349"/>
            <a:ext cx="49370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100" spc="31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2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3681221" y="2823409"/>
            <a:ext cx="296051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Thunder Client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81221" y="3112195"/>
            <a:ext cx="20367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17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200 com token; sem token, 401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30553" y="2601436"/>
            <a:ext cx="394881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100" spc="31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2800" dirty="0"/>
          </a:p>
        </p:txBody>
      </p:sp>
      <p:sp>
        <p:nvSpPr>
          <p:cNvPr id="17" name="Shape 12"/>
          <p:cNvSpPr/>
          <p:nvPr/>
        </p:nvSpPr>
        <p:spPr>
          <a:xfrm>
            <a:off x="6275330" y="2112169"/>
            <a:ext cx="2368193" cy="1600200"/>
          </a:xfrm>
          <a:prstGeom prst="roundRect">
            <a:avLst>
              <a:gd name="adj" fmla="val 10885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546" y="2249388"/>
            <a:ext cx="457189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94956" y="2282349"/>
            <a:ext cx="49370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100" spc="31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3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6412546" y="2823409"/>
            <a:ext cx="296051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React + Axios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12546" y="3112195"/>
            <a:ext cx="20367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17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Envia o cabeçalho Authorization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61878" y="2601436"/>
            <a:ext cx="394881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100" spc="31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2800" dirty="0"/>
          </a:p>
        </p:txBody>
      </p:sp>
      <p:sp>
        <p:nvSpPr>
          <p:cNvPr id="23" name="Shape 17"/>
          <p:cNvSpPr/>
          <p:nvPr/>
        </p:nvSpPr>
        <p:spPr>
          <a:xfrm>
            <a:off x="9006555" y="2112169"/>
            <a:ext cx="2368193" cy="1600200"/>
          </a:xfrm>
          <a:prstGeom prst="roundRect">
            <a:avLst>
              <a:gd name="adj" fmla="val 10885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3771" y="2249388"/>
            <a:ext cx="457189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826182" y="2282349"/>
            <a:ext cx="493700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100" spc="31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4</a:t>
            </a:r>
            <a:endParaRPr lang="en-US" sz="2800" dirty="0"/>
          </a:p>
        </p:txBody>
      </p:sp>
      <p:sp>
        <p:nvSpPr>
          <p:cNvPr id="26" name="Text 19"/>
          <p:cNvSpPr/>
          <p:nvPr/>
        </p:nvSpPr>
        <p:spPr>
          <a:xfrm>
            <a:off x="9143771" y="2823409"/>
            <a:ext cx="3047924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Deploy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143771" y="3112195"/>
            <a:ext cx="20367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17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git push e o Render publica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12879" y="3965992"/>
            <a:ext cx="697917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100" spc="20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No Render, três serviços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812879" y="4297660"/>
            <a:ext cx="1783016" cy="1188641"/>
          </a:xfrm>
          <a:prstGeom prst="roundRect">
            <a:avLst>
              <a:gd name="adj" fmla="val 10885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12" y="4407396"/>
            <a:ext cx="457189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2612" y="4953933"/>
            <a:ext cx="255174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PostgreSQL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22612" y="5214799"/>
            <a:ext cx="255174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5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Banco de dados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2737575" y="4297660"/>
            <a:ext cx="1783016" cy="1188641"/>
          </a:xfrm>
          <a:prstGeom prst="roundRect">
            <a:avLst>
              <a:gd name="adj" fmla="val 10885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7308" y="4407396"/>
            <a:ext cx="457189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847308" y="4953933"/>
            <a:ext cx="255174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Spring Boot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2847308" y="5214799"/>
            <a:ext cx="255174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5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Web Service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4662371" y="4297660"/>
            <a:ext cx="1783016" cy="1188641"/>
          </a:xfrm>
          <a:prstGeom prst="roundRect">
            <a:avLst>
              <a:gd name="adj" fmla="val 10885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104" y="4407396"/>
            <a:ext cx="457189" cy="45720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72104" y="4953933"/>
            <a:ext cx="2551743" cy="264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100" spc="18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React</a:t>
            </a:r>
            <a:endParaRPr lang="en-US" sz="1600" dirty="0"/>
          </a:p>
        </p:txBody>
      </p:sp>
      <p:sp>
        <p:nvSpPr>
          <p:cNvPr id="40" name="Text 30"/>
          <p:cNvSpPr/>
          <p:nvPr/>
        </p:nvSpPr>
        <p:spPr>
          <a:xfrm>
            <a:off x="4772104" y="5214799"/>
            <a:ext cx="255174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5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Static Site</a:t>
            </a:r>
            <a:endParaRPr lang="en-US" sz="1400" dirty="0"/>
          </a:p>
        </p:txBody>
      </p:sp>
      <p:sp>
        <p:nvSpPr>
          <p:cNvPr id="41" name="Shape 31"/>
          <p:cNvSpPr/>
          <p:nvPr/>
        </p:nvSpPr>
        <p:spPr>
          <a:xfrm>
            <a:off x="812879" y="5669260"/>
            <a:ext cx="5632508" cy="731441"/>
          </a:xfrm>
          <a:prstGeom prst="roundRect">
            <a:avLst>
              <a:gd name="adj" fmla="val 10876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124" y="5806380"/>
            <a:ext cx="457189" cy="4572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590040" y="5747147"/>
            <a:ext cx="460611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kern="100" spc="17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JWT_SECRET e a URL do banco ficam só no painel do Render, fora do GitHub.</a:t>
            </a:r>
            <a:endParaRPr lang="en-US" sz="15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0867" y="3931841"/>
            <a:ext cx="4297553" cy="2578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671"/>
            <a:ext cx="1088362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Visão técnica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780" y="1400079"/>
            <a:ext cx="1088362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Tecnologias do 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6550" y="2112963"/>
            <a:ext cx="3078482" cy="1085850"/>
          </a:xfrm>
          <a:prstGeom prst="roundRect">
            <a:avLst>
              <a:gd name="adj" fmla="val 10877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29865" y="2325238"/>
            <a:ext cx="27331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Interface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9865" y="2708731"/>
            <a:ext cx="2865167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React e Fluent UI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51199" y="2388830"/>
            <a:ext cx="420875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57102" y="2112963"/>
            <a:ext cx="3078681" cy="1085850"/>
          </a:xfrm>
          <a:prstGeom prst="roundRect">
            <a:avLst>
              <a:gd name="adj" fmla="val 10877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70417" y="2325238"/>
            <a:ext cx="27320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API REST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70417" y="2708731"/>
            <a:ext cx="286536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Java 21 e Spring Boot 3.3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90660" y="2388830"/>
            <a:ext cx="420875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96564" y="2112963"/>
            <a:ext cx="3079871" cy="1085850"/>
          </a:xfrm>
          <a:prstGeom prst="roundRect">
            <a:avLst>
              <a:gd name="adj" fmla="val 10877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509879" y="2325238"/>
            <a:ext cx="273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Banco de dados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09879" y="2708731"/>
            <a:ext cx="286655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PostgreSQL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2780" y="3476903"/>
            <a:ext cx="1088362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Integrações e entrega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6550" y="3988594"/>
            <a:ext cx="3414131" cy="1376660"/>
          </a:xfrm>
          <a:prstGeom prst="roundRect">
            <a:avLst>
              <a:gd name="adj" fmla="val 8579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029865" y="4220217"/>
            <a:ext cx="30776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Google Maps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9865" y="4603710"/>
            <a:ext cx="320081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Mapa e Geocoding API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89328" y="3988594"/>
            <a:ext cx="3414230" cy="1376660"/>
          </a:xfrm>
          <a:prstGeom prst="roundRect">
            <a:avLst>
              <a:gd name="adj" fmla="val 8579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602643" y="4220217"/>
            <a:ext cx="30777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n8n + Gemini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02643" y="4603710"/>
            <a:ext cx="320091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Dados fictícios com IA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962205" y="3988594"/>
            <a:ext cx="3414230" cy="1376660"/>
          </a:xfrm>
          <a:prstGeom prst="roundRect">
            <a:avLst>
              <a:gd name="adj" fmla="val 8579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8175520" y="4220217"/>
            <a:ext cx="30777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GitHub + Render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175520" y="4559260"/>
            <a:ext cx="307778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Deploy automático da API e do site</a:t>
            </a:r>
            <a:endParaRPr lang="en-US" sz="17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671"/>
            <a:ext cx="1088362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Visão geral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780" y="1398888"/>
            <a:ext cx="10883628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O sistema: Avaliação Escolas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6550" y="2110581"/>
            <a:ext cx="3078482" cy="1667470"/>
          </a:xfrm>
          <a:prstGeom prst="roundRect">
            <a:avLst>
              <a:gd name="adj" fmla="val 7083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29865" y="2342205"/>
            <a:ext cx="273311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1 · Cadastrar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9865" y="2681248"/>
            <a:ext cx="2733111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Escolas, endereços, cursos, professores e perfil dos alunos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51199" y="2678549"/>
            <a:ext cx="420875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57102" y="2110581"/>
            <a:ext cx="3078681" cy="1667470"/>
          </a:xfrm>
          <a:prstGeom prst="roundRect">
            <a:avLst>
              <a:gd name="adj" fmla="val 7083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70417" y="2342205"/>
            <a:ext cx="273201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2 · Avaliar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70417" y="2681248"/>
            <a:ext cx="273201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Qualidade da escola e notas dos cursos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90660" y="2678549"/>
            <a:ext cx="420875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96564" y="2110581"/>
            <a:ext cx="3079871" cy="1667470"/>
          </a:xfrm>
          <a:prstGeom prst="roundRect">
            <a:avLst>
              <a:gd name="adj" fmla="val 7083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509879" y="2342205"/>
            <a:ext cx="273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3 · Acompanhar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09879" y="2681248"/>
            <a:ext cx="273450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Mapa, relatório gerencial e ODS 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2780" y="4009350"/>
            <a:ext cx="10883628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21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Gestores, pais e responsáveis veem onde as escolas ficam, como são avaliadas e como os alunos chegam até elas.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2780" y="4961612"/>
            <a:ext cx="1088362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18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Alunos sem nome: só indicadores de deslocamento, por privacidade.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Integração com o Google Maps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O mapa é a porta de entrada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55" y="2111177"/>
            <a:ext cx="3078582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022324" y="2323155"/>
            <a:ext cx="27459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CEP e endereço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2324" y="2675394"/>
            <a:ext cx="268876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A API consulta a base de CEP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050107" y="2666147"/>
            <a:ext cx="420677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56309" y="2111177"/>
            <a:ext cx="3078780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762679" y="2323155"/>
            <a:ext cx="27460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Geocoding API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762679" y="2675394"/>
            <a:ext cx="2688860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O Google devolve a latitude e a longitude, gravadas no banco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90660" y="2666147"/>
            <a:ext cx="420677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8296861" y="2111177"/>
            <a:ext cx="3078780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503231" y="2323155"/>
            <a:ext cx="27460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Marcador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503231" y="2675394"/>
            <a:ext cx="268886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A escola aparece no Google Maps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4074" y="4012009"/>
            <a:ext cx="1077329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7000"/>
              </a:lnSpc>
              <a:buSzPct val="100000"/>
              <a:buChar char="•"/>
            </a:pPr>
            <a:r>
              <a:rPr lang="en-US" sz="1600" kern="100" spc="18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Clique no marcador: nota de qualidade, alunos e deslocamento da escola</a:t>
            </a:r>
            <a:endParaRPr lang="en-US" sz="1600" dirty="0"/>
          </a:p>
          <a:p>
            <a:pPr marL="203200" indent="-203200" algn="l">
              <a:lnSpc>
                <a:spcPct val="117000"/>
              </a:lnSpc>
              <a:buSzPct val="100000"/>
              <a:buChar char="•"/>
            </a:pPr>
            <a:r>
              <a:rPr lang="en-US" sz="1600" kern="100" spc="18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Lista lateral com busca por nome ou endereço</a:t>
            </a:r>
            <a:endParaRPr lang="en-US" sz="1600" dirty="0"/>
          </a:p>
          <a:p>
            <a:pPr marL="203200" indent="-203200" algn="l">
              <a:lnSpc>
                <a:spcPct val="117000"/>
              </a:lnSpc>
              <a:buSzPct val="100000"/>
              <a:buChar char="•"/>
            </a:pPr>
            <a:r>
              <a:rPr lang="en-US" sz="1600" kern="100" spc="18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Indicadores gerais no mesmo painel: escolas, alunos, nota média e zona rural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Integração externa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Dados: do fictício ao oficial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55" y="2111177"/>
            <a:ext cx="3078582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022324" y="2323155"/>
            <a:ext cx="27459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n8n + Gemini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2324" y="2675394"/>
            <a:ext cx="2688761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Gera escolas, endereços, cursos, professores, alunos e avaliações fictícios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050107" y="2666147"/>
            <a:ext cx="420677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56309" y="2111177"/>
            <a:ext cx="3078780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762679" y="2323155"/>
            <a:ext cx="27460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API REST do sistema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762679" y="2706648"/>
            <a:ext cx="335559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Grava os dados no banco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90660" y="2666147"/>
            <a:ext cx="420677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3200" b="1" kern="100" spc="35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→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8296861" y="2111177"/>
            <a:ext cx="3078780" cy="1667966"/>
          </a:xfrm>
          <a:prstGeom prst="roundRect">
            <a:avLst>
              <a:gd name="adj" fmla="val 7081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503231" y="2323155"/>
            <a:ext cx="27460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Mapa e relatórios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503231" y="2706648"/>
            <a:ext cx="335559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Mostram tudo na hora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12780" y="4044037"/>
            <a:ext cx="1137891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Próximo passo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2780" y="4537273"/>
            <a:ext cx="10825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kern="100" spc="22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Conectar o mesmo workflow a uma API REST oficial para importar informações reais, sem mudar a aplicação.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Encerramento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08500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Dados confiáveis para uma educação de qualidade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55" y="2614116"/>
            <a:ext cx="3414032" cy="1376462"/>
          </a:xfrm>
          <a:prstGeom prst="roundRect">
            <a:avLst>
              <a:gd name="adj" fmla="val 8580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022324" y="2826094"/>
            <a:ext cx="30912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O sistema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22324" y="3178334"/>
            <a:ext cx="303413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Cadastros, avaliações, mapa e relatórios no ar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65" y="2751237"/>
            <a:ext cx="420578" cy="4205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88732" y="2614116"/>
            <a:ext cx="3414131" cy="1376462"/>
          </a:xfrm>
          <a:prstGeom prst="roundRect">
            <a:avLst>
              <a:gd name="adj" fmla="val 8580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4595102" y="2826094"/>
            <a:ext cx="30914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As integrações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95102" y="3178334"/>
            <a:ext cx="303433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Google Maps, Geocoding API, n8n e Gemini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842" y="2751237"/>
            <a:ext cx="420578" cy="4205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61510" y="2614116"/>
            <a:ext cx="3414131" cy="1376462"/>
          </a:xfrm>
          <a:prstGeom prst="roundRect">
            <a:avLst>
              <a:gd name="adj" fmla="val 8580"/>
            </a:avLst>
          </a:prstGeom>
          <a:solidFill>
            <a:srgbClr val="1C232C"/>
          </a:solidFill>
          <a:ln w="6350">
            <a:solidFill>
              <a:srgbClr val="2C364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9"/>
          <p:cNvSpPr/>
          <p:nvPr/>
        </p:nvSpPr>
        <p:spPr>
          <a:xfrm>
            <a:off x="8167880" y="2826094"/>
            <a:ext cx="30914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kern="100" spc="22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O próximo passo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167880" y="3178334"/>
            <a:ext cx="303433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kern="100" spc="19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Workflow ligado a uma API REST com dados oficiais</a:t>
            </a:r>
            <a:endParaRPr lang="en-US" sz="1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819" y="2751237"/>
            <a:ext cx="420578" cy="420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2780" y="4256901"/>
            <a:ext cx="11378915" cy="325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21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Meta: apoiar decisões que aproximem escolas e alunos, como pede o ODS 4.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593828"/>
            <a:ext cx="12191397" cy="22640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93472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kern="100" spc="18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Agradecimento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926" y="566837"/>
            <a:ext cx="566823" cy="56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1386288"/>
            <a:ext cx="10883032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b="1" kern="100" spc="40" dirty="0">
                <a:solidFill>
                  <a:srgbClr val="EDEFF2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Aprender não tem hora nem limite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780" y="2064365"/>
            <a:ext cx="10825884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20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"Semear" ganha um significado ainda mais bonito: mesmo quando a visão física falha ou fica embaçada, a sua visão de futuro e o seu propósito continuam nítidos, plantando sementes de transformação que nenhuma barreira visual pode conter.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780" y="3313430"/>
            <a:ext cx="10825884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21" dirty="0">
                <a:solidFill>
                  <a:srgbClr val="EDEFF2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Este sistema mostra que dá para continuar construindo. Obrigado à Recode, ao Instituto BAT, aos professores, mentores e colegas da Turma 2.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2780" y="4251662"/>
            <a:ext cx="10883032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b="1" kern="100" spc="24" dirty="0">
                <a:solidFill>
                  <a:srgbClr val="FFC857"/>
                </a:solidFill>
                <a:latin typeface="PT Sans Bold" pitchFamily="34" charset="0"/>
                <a:ea typeface="PT Sans Bold" pitchFamily="34" charset="-122"/>
                <a:cs typeface="PT Sans Bold" pitchFamily="34" charset="0"/>
              </a:rPr>
              <a:t>Leandro Crisci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2780" y="4616569"/>
            <a:ext cx="1137891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18" dirty="0">
                <a:solidFill>
                  <a:srgbClr val="B8C2CC"/>
                </a:solidFill>
                <a:latin typeface="PT Sans" pitchFamily="34" charset="0"/>
                <a:ea typeface="PT Sans" pitchFamily="34" charset="-122"/>
                <a:cs typeface="PT Sans" pitchFamily="34" charset="0"/>
              </a:rPr>
              <a:t>leandrocrisci@msn.com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165" y="4869855"/>
            <a:ext cx="3582799" cy="1820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B8C2C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806</Words>
  <Application>Microsoft Office PowerPoint</Application>
  <PresentationFormat>Widescreen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PT Sans Bold</vt:lpstr>
      <vt:lpstr>Arial</vt:lpstr>
      <vt:lpstr>PT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Leandro Crisci</dc:creator>
  <cp:lastModifiedBy>Leandro Crisci</cp:lastModifiedBy>
  <cp:revision>2</cp:revision>
  <dcterms:created xsi:type="dcterms:W3CDTF">2026-10-27T19:56:18Z</dcterms:created>
  <dcterms:modified xsi:type="dcterms:W3CDTF">2026-10-27T21:26:25Z</dcterms:modified>
</cp:coreProperties>
</file>